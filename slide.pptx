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14"/>
  </p:notesMasterIdLst>
  <p:handoutMasterIdLst>
    <p:handoutMasterId r:id="rId15"/>
  </p:handoutMasterIdLst>
  <p:sldIdLst>
    <p:sldId id="257" r:id="rId2"/>
    <p:sldId id="265" r:id="rId3"/>
    <p:sldId id="266" r:id="rId4"/>
    <p:sldId id="275" r:id="rId5"/>
    <p:sldId id="271" r:id="rId6"/>
    <p:sldId id="276" r:id="rId7"/>
    <p:sldId id="277" r:id="rId8"/>
    <p:sldId id="279" r:id="rId9"/>
    <p:sldId id="280" r:id="rId10"/>
    <p:sldId id="282" r:id="rId11"/>
    <p:sldId id="283" r:id="rId12"/>
    <p:sldId id="269"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79" d="100"/>
          <a:sy n="79" d="100"/>
        </p:scale>
        <p:origin x="14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5/11/2026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5/11/2026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5/11/2026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5/11/2026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5/11/2026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5/11/2026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5/11/2026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5/11/2026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5/11/2026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5/11/2026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5" r:id="rId3"/>
    <p:sldLayoutId id="2147483683" r:id="rId4"/>
    <p:sldLayoutId id="2147483679" r:id="rId5"/>
    <p:sldLayoutId id="2147483680" r:id="rId6"/>
    <p:sldLayoutId id="2147483681" r:id="rId7"/>
    <p:sldLayoutId id="2147483682" r:id="rId8"/>
    <p:sldLayoutId id="2147483678"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150364" y="2022802"/>
            <a:ext cx="8351609"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just"/>
            <a:r>
              <a:rPr lang="en-US">
                <a:latin typeface="Arial" panose="020B0604020202020204" pitchFamily="34" charset="0"/>
                <a:cs typeface="Arial" panose="020B0604020202020204" pitchFamily="34" charset="0"/>
              </a:rPr>
              <a:t>Dự đoán chức năng protein bằng học sâu</a:t>
            </a:r>
            <a:endParaRPr lang="en-US" dirty="0">
              <a:latin typeface="Arial" panose="020B0604020202020204" pitchFamily="34" charset="0"/>
              <a:cs typeface="Arial" panose="020B0604020202020204" pitchFamily="34" charset="0"/>
            </a:endParaRP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257369" y="3884383"/>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400" b="0">
                <a:latin typeface="Arial" panose="020B0604020202020204" pitchFamily="34" charset="0"/>
                <a:cs typeface="Arial" panose="020B0604020202020204" pitchFamily="34" charset="0"/>
              </a:rPr>
              <a:t>GVHD: PGS.TS. Lê Đức Hậu</a:t>
            </a:r>
            <a:endParaRPr lang="en-US" sz="2400" b="0" dirty="0">
              <a:latin typeface="Arial" panose="020B0604020202020204" pitchFamily="34" charset="0"/>
              <a:cs typeface="Arial" panose="020B0604020202020204" pitchFamily="34" charset="0"/>
            </a:endParaRPr>
          </a:p>
          <a:p>
            <a:r>
              <a:rPr lang="en-US" sz="2400" b="0">
                <a:latin typeface="Arial" panose="020B0604020202020204" pitchFamily="34" charset="0"/>
                <a:cs typeface="Arial" panose="020B0604020202020204" pitchFamily="34" charset="0"/>
              </a:rPr>
              <a:t>Sinh viên: Nguyễn Thùy Linh</a:t>
            </a:r>
            <a:endParaRPr lang="en-US" sz="2400" b="0" dirty="0">
              <a:latin typeface="Arial" panose="020B0604020202020204" pitchFamily="34" charset="0"/>
              <a:cs typeface="Arial" panose="020B0604020202020204" pitchFamily="34" charset="0"/>
            </a:endParaRPr>
          </a:p>
          <a:p>
            <a:endParaRPr lang="en-US" sz="2400" b="0" dirty="0">
              <a:latin typeface="Arial" panose="020B0604020202020204" pitchFamily="34" charset="0"/>
              <a:cs typeface="Arial" panose="020B0604020202020204" pitchFamily="34" charset="0"/>
            </a:endParaRPr>
          </a:p>
          <a:p>
            <a:endParaRPr lang="en-US" sz="2400" b="0" dirty="0">
              <a:latin typeface="Arial" panose="020B0604020202020204" pitchFamily="34" charset="0"/>
              <a:cs typeface="Arial" panose="020B0604020202020204" pitchFamily="34" charset="0"/>
            </a:endParaRPr>
          </a:p>
          <a:p>
            <a:endParaRPr lang="en-US" sz="2400" b="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2</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1. Mục tiêu chọn đề tài</a:t>
            </a:r>
          </a:p>
        </p:txBody>
      </p:sp>
      <p:sp>
        <p:nvSpPr>
          <p:cNvPr id="4" name="Content Placeholder 3">
            <a:extLst>
              <a:ext uri="{FF2B5EF4-FFF2-40B4-BE49-F238E27FC236}">
                <a16:creationId xmlns:a16="http://schemas.microsoft.com/office/drawing/2014/main" id="{59563378-38F8-4CB3-AF99-2C56FCF55404}"/>
              </a:ext>
            </a:extLst>
          </p:cNvPr>
          <p:cNvSpPr>
            <a:spLocks noGrp="1"/>
          </p:cNvSpPr>
          <p:nvPr>
            <p:ph sz="quarter" idx="13"/>
          </p:nvPr>
        </p:nvSpPr>
        <p:spPr>
          <a:xfrm>
            <a:off x="234823" y="1152534"/>
            <a:ext cx="8674100" cy="4363050"/>
          </a:xfrm>
        </p:spPr>
        <p:txBody>
          <a:bodyPr/>
          <a:lstStyle/>
          <a:p>
            <a:pPr marL="0" indent="0" algn="just">
              <a:buNone/>
            </a:pPr>
            <a:r>
              <a:rPr lang="vi-VN" sz="2000" b="1">
                <a:latin typeface="Arial" panose="020B0604020202020204" pitchFamily="34" charset="0"/>
                <a:cs typeface="Arial" panose="020B0604020202020204" pitchFamily="34" charset="0"/>
              </a:rPr>
              <a:t>Bài toán:</a:t>
            </a:r>
            <a:r>
              <a:rPr lang="vi-VN" sz="2000">
                <a:latin typeface="Arial" panose="020B0604020202020204" pitchFamily="34" charset="0"/>
                <a:cs typeface="Arial" panose="020B0604020202020204" pitchFamily="34" charset="0"/>
              </a:rPr>
              <a:t> Dự đoán chức năng protein thông qua Gene Ontology (GO) annotation là một trong những thách thức cốt lõi của tin sinh học. Phần lớn protein trong proteome người chưa có chú thích chức năng đầy đủ, trong khi thực nghiệm sinh học để xác định chức năng rất tốn kém và chậm. </a:t>
            </a:r>
            <a:endParaRPr lang="en-US" sz="2000">
              <a:latin typeface="Arial" panose="020B0604020202020204" pitchFamily="34" charset="0"/>
              <a:cs typeface="Arial" panose="020B0604020202020204" pitchFamily="34" charset="0"/>
            </a:endParaRPr>
          </a:p>
          <a:p>
            <a:pPr marL="0" indent="0" algn="just">
              <a:buNone/>
            </a:pPr>
            <a:r>
              <a:rPr lang="vi-VN" sz="2000" b="1">
                <a:latin typeface="Arial" panose="020B0604020202020204" pitchFamily="34" charset="0"/>
                <a:cs typeface="Arial" panose="020B0604020202020204" pitchFamily="34" charset="0"/>
              </a:rPr>
              <a:t>Lý do chọn đề tài:</a:t>
            </a:r>
            <a:r>
              <a:rPr lang="vi-VN" sz="2000">
                <a:latin typeface="Arial" panose="020B0604020202020204" pitchFamily="34" charset="0"/>
                <a:cs typeface="Arial" panose="020B0604020202020204" pitchFamily="34" charset="0"/>
              </a:rPr>
              <a:t> Các phương pháp đơn nguồn (chỉ dùng trình tự hoặc chỉ dùng cấu trúc) chưa khai thác hết thông tin sinh học của protein. AlphaFold2 đã cách mạng hóa việc dự đoán cấu trúc 3D → cơ hội tích hợp cấu trúc như một nguồn đặc trưng mạnh. Mô hình ESM-AlphaFold-GO được xây dựng để khai thác đồng thời </a:t>
            </a:r>
            <a:r>
              <a:rPr lang="vi-VN" sz="2000" b="1">
                <a:latin typeface="Arial" panose="020B0604020202020204" pitchFamily="34" charset="0"/>
                <a:cs typeface="Arial" panose="020B0604020202020204" pitchFamily="34" charset="0"/>
              </a:rPr>
              <a:t>3 nguồn thông tin bổ sung</a:t>
            </a:r>
            <a:r>
              <a:rPr lang="vi-VN" sz="2000">
                <a:latin typeface="Arial" panose="020B0604020202020204" pitchFamily="34" charset="0"/>
                <a:cs typeface="Arial" panose="020B0604020202020204" pitchFamily="34" charset="0"/>
              </a:rPr>
              <a:t>:</a:t>
            </a:r>
          </a:p>
          <a:p>
            <a:pPr algn="just"/>
            <a:r>
              <a:rPr lang="vi-VN" sz="2000">
                <a:latin typeface="Arial" panose="020B0604020202020204" pitchFamily="34" charset="0"/>
                <a:cs typeface="Arial" panose="020B0604020202020204" pitchFamily="34" charset="0"/>
              </a:rPr>
              <a:t>Cấu trúc 3D protein từ AlphaFold2</a:t>
            </a:r>
          </a:p>
          <a:p>
            <a:pPr algn="just"/>
            <a:r>
              <a:rPr lang="vi-VN" sz="2000">
                <a:latin typeface="Arial" panose="020B0604020202020204" pitchFamily="34" charset="0"/>
                <a:cs typeface="Arial" panose="020B0604020202020204" pitchFamily="34" charset="0"/>
              </a:rPr>
              <a:t>Trình tự amino acid qua mô hình ngôn ngữ protein </a:t>
            </a:r>
          </a:p>
          <a:p>
            <a:pPr algn="just"/>
            <a:r>
              <a:rPr lang="vi-VN" sz="2000">
                <a:latin typeface="Arial" panose="020B0604020202020204" pitchFamily="34" charset="0"/>
                <a:cs typeface="Arial" panose="020B0604020202020204" pitchFamily="34" charset="0"/>
              </a:rPr>
              <a:t>Mạng tương tác PPI từ STRING </a:t>
            </a:r>
          </a:p>
          <a:p>
            <a:pPr algn="just"/>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364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3</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2. Dataset</a:t>
            </a:r>
          </a:p>
        </p:txBody>
      </p:sp>
      <p:sp>
        <p:nvSpPr>
          <p:cNvPr id="4" name="Text Placeholder 3">
            <a:extLst>
              <a:ext uri="{FF2B5EF4-FFF2-40B4-BE49-F238E27FC236}">
                <a16:creationId xmlns:a16="http://schemas.microsoft.com/office/drawing/2014/main" id="{BC311219-8684-45FC-A126-E067924AC7F7}"/>
              </a:ext>
            </a:extLst>
          </p:cNvPr>
          <p:cNvSpPr>
            <a:spLocks noGrp="1"/>
          </p:cNvSpPr>
          <p:nvPr>
            <p:ph type="body" sz="quarter" idx="13"/>
          </p:nvPr>
        </p:nvSpPr>
        <p:spPr/>
        <p:txBody>
          <a:bodyPr/>
          <a:lstStyle/>
          <a:p>
            <a:endParaRPr lang="en-US"/>
          </a:p>
        </p:txBody>
      </p:sp>
      <p:graphicFrame>
        <p:nvGraphicFramePr>
          <p:cNvPr id="5" name="Table 4">
            <a:extLst>
              <a:ext uri="{FF2B5EF4-FFF2-40B4-BE49-F238E27FC236}">
                <a16:creationId xmlns:a16="http://schemas.microsoft.com/office/drawing/2014/main" id="{B449DF92-0957-7ED8-A032-E449223F3359}"/>
              </a:ext>
            </a:extLst>
          </p:cNvPr>
          <p:cNvGraphicFramePr>
            <a:graphicFrameLocks noGrp="1"/>
          </p:cNvGraphicFramePr>
          <p:nvPr>
            <p:extLst>
              <p:ext uri="{D42A27DB-BD31-4B8C-83A1-F6EECF244321}">
                <p14:modId xmlns:p14="http://schemas.microsoft.com/office/powerpoint/2010/main" val="3944141688"/>
              </p:ext>
            </p:extLst>
          </p:nvPr>
        </p:nvGraphicFramePr>
        <p:xfrm>
          <a:off x="1467949" y="1804318"/>
          <a:ext cx="6428134" cy="3249363"/>
        </p:xfrm>
        <a:graphic>
          <a:graphicData uri="http://schemas.openxmlformats.org/drawingml/2006/table">
            <a:tbl>
              <a:tblPr/>
              <a:tblGrid>
                <a:gridCol w="2142711">
                  <a:extLst>
                    <a:ext uri="{9D8B030D-6E8A-4147-A177-3AD203B41FA5}">
                      <a16:colId xmlns:a16="http://schemas.microsoft.com/office/drawing/2014/main" val="3453673807"/>
                    </a:ext>
                  </a:extLst>
                </a:gridCol>
                <a:gridCol w="3489603">
                  <a:extLst>
                    <a:ext uri="{9D8B030D-6E8A-4147-A177-3AD203B41FA5}">
                      <a16:colId xmlns:a16="http://schemas.microsoft.com/office/drawing/2014/main" val="1930759488"/>
                    </a:ext>
                  </a:extLst>
                </a:gridCol>
                <a:gridCol w="795820">
                  <a:extLst>
                    <a:ext uri="{9D8B030D-6E8A-4147-A177-3AD203B41FA5}">
                      <a16:colId xmlns:a16="http://schemas.microsoft.com/office/drawing/2014/main" val="2843656910"/>
                    </a:ext>
                  </a:extLst>
                </a:gridCol>
              </a:tblGrid>
              <a:tr h="279688">
                <a:tc>
                  <a:txBody>
                    <a:bodyPr/>
                    <a:lstStyle/>
                    <a:p>
                      <a:pPr algn="ctr">
                        <a:buNone/>
                      </a:pPr>
                      <a:r>
                        <a:rPr lang="en-US" sz="2000">
                          <a:latin typeface="Arial" panose="020B0604020202020204" pitchFamily="34" charset="0"/>
                          <a:cs typeface="Arial" panose="020B0604020202020204" pitchFamily="34" charset="0"/>
                        </a:rPr>
                        <a:t>Nguồn</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File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700"/>
                    </a:p>
                  </a:txBody>
                  <a:tcPr marL="87027" marR="87027" marT="43513" marB="43513"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2006223751"/>
                  </a:ext>
                </a:extLst>
              </a:tr>
              <a:tr h="807565">
                <a:tc>
                  <a:txBody>
                    <a:bodyPr/>
                    <a:lstStyle/>
                    <a:p>
                      <a:pPr algn="ctr">
                        <a:buNone/>
                      </a:pPr>
                      <a:r>
                        <a:rPr lang="en-US" sz="2000">
                          <a:latin typeface="Arial" panose="020B0604020202020204" pitchFamily="34" charset="0"/>
                          <a:cs typeface="Arial" panose="020B0604020202020204" pitchFamily="34" charset="0"/>
                        </a:rPr>
                        <a:t>AlphaFold2</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struct_feature/*.pdb.gz</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700"/>
                    </a:p>
                  </a:txBody>
                  <a:tcPr marL="87027" marR="87027" marT="43513" marB="43513"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497981985"/>
                  </a:ext>
                </a:extLst>
              </a:tr>
              <a:tr h="621204">
                <a:tc>
                  <a:txBody>
                    <a:bodyPr/>
                    <a:lstStyle/>
                    <a:p>
                      <a:pPr algn="ctr">
                        <a:buNone/>
                      </a:pPr>
                      <a:r>
                        <a:rPr lang="en-US" sz="2000">
                          <a:latin typeface="Arial" panose="020B0604020202020204" pitchFamily="34" charset="0"/>
                          <a:cs typeface="Arial" panose="020B0604020202020204" pitchFamily="34" charset="0"/>
                        </a:rPr>
                        <a:t>UniProt GOA</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goa_human.gaf.gz</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700"/>
                    </a:p>
                  </a:txBody>
                  <a:tcPr marL="87027" marR="87027" marT="43513" marB="43513"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478011159"/>
                  </a:ext>
                </a:extLst>
              </a:tr>
              <a:tr h="434842">
                <a:tc>
                  <a:txBody>
                    <a:bodyPr/>
                    <a:lstStyle/>
                    <a:p>
                      <a:pPr algn="ctr">
                        <a:buNone/>
                      </a:pPr>
                      <a:r>
                        <a:rPr lang="en-US" sz="2000">
                          <a:latin typeface="Arial" panose="020B0604020202020204" pitchFamily="34" charset="0"/>
                          <a:cs typeface="Arial" panose="020B0604020202020204" pitchFamily="34" charset="0"/>
                        </a:rPr>
                        <a:t>UniProt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seq.fasta</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700"/>
                    </a:p>
                  </a:txBody>
                  <a:tcPr marL="87027" marR="87027" marT="43513" marB="43513"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004404287"/>
                  </a:ext>
                </a:extLst>
              </a:tr>
              <a:tr h="993926">
                <a:tc>
                  <a:txBody>
                    <a:bodyPr/>
                    <a:lstStyle/>
                    <a:p>
                      <a:pPr algn="ctr">
                        <a:buNone/>
                      </a:pPr>
                      <a:r>
                        <a:rPr lang="en-US" sz="2000">
                          <a:latin typeface="Arial" panose="020B0604020202020204" pitchFamily="34" charset="0"/>
                          <a:cs typeface="Arial" panose="020B0604020202020204" pitchFamily="34" charset="0"/>
                        </a:rPr>
                        <a:t>STRING v12</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ppi.txt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vi-VN" sz="1700"/>
                    </a:p>
                  </a:txBody>
                  <a:tcPr marL="87027" marR="87027" marT="43513" marB="43513"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63551716"/>
                  </a:ext>
                </a:extLst>
              </a:tr>
            </a:tbl>
          </a:graphicData>
        </a:graphic>
      </p:graphicFrame>
    </p:spTree>
    <p:extLst>
      <p:ext uri="{BB962C8B-B14F-4D97-AF65-F5344CB8AC3E}">
        <p14:creationId xmlns:p14="http://schemas.microsoft.com/office/powerpoint/2010/main" val="2751358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201EA-1B2E-CFA5-C49E-0F3E2318377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D07F9C-F43F-0E1B-A716-C29A3B6D3D09}"/>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3" name="Title 2">
            <a:extLst>
              <a:ext uri="{FF2B5EF4-FFF2-40B4-BE49-F238E27FC236}">
                <a16:creationId xmlns:a16="http://schemas.microsoft.com/office/drawing/2014/main" id="{E8F3E2E7-F50E-2E19-A3A3-16F856F1AD3F}"/>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2. Dataset</a:t>
            </a:r>
          </a:p>
        </p:txBody>
      </p:sp>
      <p:sp>
        <p:nvSpPr>
          <p:cNvPr id="4" name="Text Placeholder 3">
            <a:extLst>
              <a:ext uri="{FF2B5EF4-FFF2-40B4-BE49-F238E27FC236}">
                <a16:creationId xmlns:a16="http://schemas.microsoft.com/office/drawing/2014/main" id="{EB980929-2E4C-630B-B471-8C87F45B336F}"/>
              </a:ext>
            </a:extLst>
          </p:cNvPr>
          <p:cNvSpPr>
            <a:spLocks noGrp="1"/>
          </p:cNvSpPr>
          <p:nvPr>
            <p:ph type="body" sz="quarter" idx="13"/>
          </p:nvPr>
        </p:nvSpPr>
        <p:spPr>
          <a:xfrm>
            <a:off x="219217" y="1439294"/>
            <a:ext cx="8674100" cy="5132832"/>
          </a:xfrm>
        </p:spPr>
        <p:txBody>
          <a:bodyPr/>
          <a:lstStyle/>
          <a:p>
            <a:pPr marL="0" indent="0" algn="just">
              <a:buNone/>
            </a:pPr>
            <a:r>
              <a:rPr lang="vi-VN" sz="2000" b="1">
                <a:latin typeface="+mn-lt"/>
              </a:rPr>
              <a:t>Đặc điểm dữ liệu:</a:t>
            </a:r>
            <a:endParaRPr lang="vi-VN" sz="2000">
              <a:latin typeface="+mn-lt"/>
            </a:endParaRPr>
          </a:p>
          <a:p>
            <a:pPr algn="just"/>
            <a:r>
              <a:rPr lang="vi-VN" sz="2000">
                <a:latin typeface="+mn-lt"/>
              </a:rPr>
              <a:t>Protein ID được trích từ tên file PDB bằng filename.split('-')[1]</a:t>
            </a:r>
            <a:endParaRPr lang="en-US" sz="2000">
              <a:latin typeface="+mn-lt"/>
            </a:endParaRPr>
          </a:p>
          <a:p>
            <a:pPr marL="0" indent="0" algn="just">
              <a:buNone/>
            </a:pPr>
            <a:r>
              <a:rPr lang="en-US" sz="2000">
                <a:latin typeface="+mn-lt"/>
              </a:rPr>
              <a:t>Ví dụ:</a:t>
            </a:r>
            <a:r>
              <a:rPr lang="vi-VN" sz="2000">
                <a:latin typeface="+mn-lt"/>
              </a:rPr>
              <a:t> AF-A0A0A0MRZ7-F1-model_v6.pdb.gz → A0A0A0MRZ7</a:t>
            </a:r>
          </a:p>
          <a:p>
            <a:pPr algn="just"/>
            <a:r>
              <a:rPr lang="vi-VN" sz="2000">
                <a:latin typeface="+mn-lt"/>
              </a:rPr>
              <a:t>PPI network dùng ID dạng Ensembl Protein (ENSP), cần map sang UniProtKB AC qua REST API trước khi dùng</a:t>
            </a:r>
          </a:p>
          <a:p>
            <a:pPr algn="just"/>
            <a:r>
              <a:rPr lang="vi-VN" sz="2000">
                <a:latin typeface="+mn-lt"/>
              </a:rPr>
              <a:t>GO annotation được lọc theo từng nhánh (BP/MF/CC) và loại bỏ các GO term xuất hiện dưới ngưỡng tần suất tối thiểu</a:t>
            </a:r>
          </a:p>
          <a:p>
            <a:pPr algn="just"/>
            <a:r>
              <a:rPr lang="vi-VN" sz="2000">
                <a:latin typeface="+mn-lt"/>
              </a:rPr>
              <a:t>Chia train/valid/test theo tỷ lệ 70% / 20% / 10%</a:t>
            </a:r>
          </a:p>
          <a:p>
            <a:pPr algn="just"/>
            <a:endParaRPr lang="en-US">
              <a:latin typeface="+mn-lt"/>
            </a:endParaRPr>
          </a:p>
        </p:txBody>
      </p:sp>
    </p:spTree>
    <p:extLst>
      <p:ext uri="{BB962C8B-B14F-4D97-AF65-F5344CB8AC3E}">
        <p14:creationId xmlns:p14="http://schemas.microsoft.com/office/powerpoint/2010/main" val="3908973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3. </a:t>
            </a:r>
            <a:r>
              <a:rPr lang="vi-VN">
                <a:latin typeface="Arial" panose="020B0604020202020204" pitchFamily="34" charset="0"/>
                <a:cs typeface="Arial" panose="020B0604020202020204" pitchFamily="34" charset="0"/>
              </a:rPr>
              <a:t>Các bước xử lý</a:t>
            </a:r>
            <a:endParaRPr lang="en-US">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6" name="TextBox 5">
            <a:extLst>
              <a:ext uri="{FF2B5EF4-FFF2-40B4-BE49-F238E27FC236}">
                <a16:creationId xmlns:a16="http://schemas.microsoft.com/office/drawing/2014/main" id="{2A35710A-D259-AA77-AF92-00891F595B8A}"/>
              </a:ext>
            </a:extLst>
          </p:cNvPr>
          <p:cNvSpPr txBox="1"/>
          <p:nvPr/>
        </p:nvSpPr>
        <p:spPr>
          <a:xfrm>
            <a:off x="235077" y="1028343"/>
            <a:ext cx="8519817" cy="3416320"/>
          </a:xfrm>
          <a:prstGeom prst="rect">
            <a:avLst/>
          </a:prstGeom>
          <a:noFill/>
        </p:spPr>
        <p:txBody>
          <a:bodyPr wrap="square" rtlCol="0">
            <a:spAutoFit/>
          </a:bodyPr>
          <a:lstStyle/>
          <a:p>
            <a:r>
              <a:rPr lang="vi-VN" b="1"/>
              <a:t>Bước 1 — Lấy danh sách protein ID hợp lệ</a:t>
            </a:r>
            <a:endParaRPr lang="vi-VN"/>
          </a:p>
          <a:p>
            <a:r>
              <a:rPr lang="vi-VN"/>
              <a:t>Input: D:\raw_data\struct_feature\*.pdb.gz</a:t>
            </a:r>
          </a:p>
          <a:p>
            <a:r>
              <a:rPr lang="vi-VN"/>
              <a:t>Output: proceed_data\valid_protein_ids.csv — danh sách UniProtKB AC</a:t>
            </a:r>
          </a:p>
          <a:p>
            <a:r>
              <a:rPr lang="vi-VN" b="1"/>
              <a:t>Bước 2 — Parse GO annotation</a:t>
            </a:r>
            <a:endParaRPr lang="vi-VN"/>
          </a:p>
          <a:p>
            <a:r>
              <a:rPr lang="vi-VN"/>
              <a:t>Input: D:\raw_data\goa_human.gaf.gz</a:t>
            </a:r>
          </a:p>
          <a:p>
            <a:r>
              <a:rPr lang="vi-VN"/>
              <a:t>Output: proceed_data\HUMAN_protein_info.json — dict {UniProtID: [GO:0005515, ...]}; từ đó tạo thêm human_BP_ACS.json, human_MF_ACS.json, human_CC_ACS.json đã lọc theo nhánh</a:t>
            </a:r>
          </a:p>
          <a:p>
            <a:r>
              <a:rPr lang="vi-VN" b="1"/>
              <a:t>Bước 3 — Xây dựng contact map từ PDB.gz</a:t>
            </a:r>
            <a:endParaRPr lang="vi-VN"/>
          </a:p>
          <a:p>
            <a:r>
              <a:rPr lang="vi-VN"/>
              <a:t>Input: từng file AF-{ID}-F1-model_v6.pdb.gz</a:t>
            </a:r>
          </a:p>
          <a:p>
            <a:r>
              <a:rPr lang="vi-VN"/>
              <a:t>Output: proceed_data\proteins_edges\{UniProtID}.txt — danh sách cạnh dạng node_i node_j</a:t>
            </a:r>
          </a:p>
        </p:txBody>
      </p:sp>
    </p:spTree>
    <p:extLst>
      <p:ext uri="{BB962C8B-B14F-4D97-AF65-F5344CB8AC3E}">
        <p14:creationId xmlns:p14="http://schemas.microsoft.com/office/powerpoint/2010/main" val="3651498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0596D-094E-A173-7915-BF638BF9AD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AE94F9-FFF3-B86F-6EC0-2DDAEB220037}"/>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3. </a:t>
            </a:r>
            <a:r>
              <a:rPr lang="vi-VN">
                <a:latin typeface="Arial" panose="020B0604020202020204" pitchFamily="34" charset="0"/>
                <a:cs typeface="Arial" panose="020B0604020202020204" pitchFamily="34" charset="0"/>
              </a:rPr>
              <a:t>Các bước xử lý</a:t>
            </a:r>
            <a:endParaRPr lang="en-US">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C92F32FF-10AB-F5E8-3766-F936E44C8F6D}"/>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3" name="TextBox 2">
            <a:extLst>
              <a:ext uri="{FF2B5EF4-FFF2-40B4-BE49-F238E27FC236}">
                <a16:creationId xmlns:a16="http://schemas.microsoft.com/office/drawing/2014/main" id="{4FAD6949-E029-A010-1BCE-7C0FF6214E0A}"/>
              </a:ext>
            </a:extLst>
          </p:cNvPr>
          <p:cNvSpPr txBox="1"/>
          <p:nvPr/>
        </p:nvSpPr>
        <p:spPr>
          <a:xfrm>
            <a:off x="441960" y="1234440"/>
            <a:ext cx="8466963" cy="3139321"/>
          </a:xfrm>
          <a:prstGeom prst="rect">
            <a:avLst/>
          </a:prstGeom>
          <a:noFill/>
        </p:spPr>
        <p:txBody>
          <a:bodyPr wrap="square" rtlCol="0">
            <a:spAutoFit/>
          </a:bodyPr>
          <a:lstStyle/>
          <a:p>
            <a:r>
              <a:rPr lang="vi-VN" b="1"/>
              <a:t>Bước 4 — Tạo node feature và sequence embedding</a:t>
            </a:r>
            <a:endParaRPr lang="vi-VN"/>
          </a:p>
          <a:p>
            <a:r>
              <a:rPr lang="vi-VN"/>
              <a:t>4a: get_sequence.py — one-hot encode mỗi amino acid thành 26-dim; output: protein_node2onehot</a:t>
            </a:r>
          </a:p>
          <a:p>
            <a:r>
              <a:rPr lang="vi-VN"/>
              <a:t>4b: seq2vec.py — dùng SeqVec hoặc ESM-2 encode toàn bộ trình tự thành 1024-dim; output: 9606-avg-emb.pkl</a:t>
            </a:r>
          </a:p>
          <a:p>
            <a:r>
              <a:rPr lang="vi-VN"/>
              <a:t>4c: read_seqvec_features.py — lọc protein hợp lệ, chuẩn hóa; output: dict_sequence_feature</a:t>
            </a:r>
          </a:p>
          <a:p>
            <a:r>
              <a:rPr lang="vi-VN" b="1"/>
              <a:t>Bước 5 — Map ENSP ID sang UniProtKB AC</a:t>
            </a:r>
            <a:endParaRPr lang="vi-VN"/>
          </a:p>
          <a:p>
            <a:r>
              <a:rPr lang="vi-VN"/>
              <a:t>Input: ppi.txt (ID dạng 9606.ENSP00000...)</a:t>
            </a:r>
          </a:p>
          <a:p>
            <a:r>
              <a:rPr lang="vi-VN"/>
              <a:t>Output: uniprot_ensembl_mapping.csv</a:t>
            </a:r>
          </a:p>
          <a:p>
            <a:endParaRPr lang="en-US"/>
          </a:p>
        </p:txBody>
      </p:sp>
    </p:spTree>
    <p:extLst>
      <p:ext uri="{BB962C8B-B14F-4D97-AF65-F5344CB8AC3E}">
        <p14:creationId xmlns:p14="http://schemas.microsoft.com/office/powerpoint/2010/main" val="2856121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EBDCC-1D4C-8952-57EC-AB2F7E57A7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20B7BB-26E7-54A8-15E0-6795FF66D25C}"/>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3. </a:t>
            </a:r>
            <a:r>
              <a:rPr lang="vi-VN">
                <a:latin typeface="Arial" panose="020B0604020202020204" pitchFamily="34" charset="0"/>
                <a:cs typeface="Arial" panose="020B0604020202020204" pitchFamily="34" charset="0"/>
              </a:rPr>
              <a:t>Các bước xử lý</a:t>
            </a:r>
            <a:endParaRPr lang="en-US">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00397603-1400-1E66-7BCE-4EA1E8B43DAE}"/>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TextBox 2">
            <a:extLst>
              <a:ext uri="{FF2B5EF4-FFF2-40B4-BE49-F238E27FC236}">
                <a16:creationId xmlns:a16="http://schemas.microsoft.com/office/drawing/2014/main" id="{EAD93986-76B8-B1D4-2850-7262D24257A2}"/>
              </a:ext>
            </a:extLst>
          </p:cNvPr>
          <p:cNvSpPr txBox="1"/>
          <p:nvPr/>
        </p:nvSpPr>
        <p:spPr>
          <a:xfrm>
            <a:off x="235077" y="975360"/>
            <a:ext cx="8821374" cy="2308324"/>
          </a:xfrm>
          <a:prstGeom prst="rect">
            <a:avLst/>
          </a:prstGeom>
          <a:noFill/>
        </p:spPr>
        <p:txBody>
          <a:bodyPr wrap="square" rtlCol="0">
            <a:spAutoFit/>
          </a:bodyPr>
          <a:lstStyle/>
          <a:p>
            <a:r>
              <a:rPr lang="vi-VN" b="1"/>
              <a:t>Bước 6 — Xây dựng PPI global graph</a:t>
            </a:r>
            <a:endParaRPr lang="vi-VN"/>
          </a:p>
          <a:p>
            <a:r>
              <a:rPr lang="vi-VN"/>
              <a:t>Input: ppi.txt + uniprot_ensembl_mapping.csv + dict_sequence_feature</a:t>
            </a:r>
          </a:p>
          <a:p>
            <a:r>
              <a:rPr lang="vi-VN"/>
              <a:t>Output: ppi_graph_global (DGL graph), ppi_protein_index (dict {UniProtID → node_id})</a:t>
            </a:r>
          </a:p>
          <a:p>
            <a:r>
              <a:rPr lang="vi-VN" b="1"/>
              <a:t>Bước 7 — Ghép thành graph dataset</a:t>
            </a:r>
            <a:endParaRPr lang="vi-VN"/>
          </a:p>
          <a:p>
            <a:r>
              <a:rPr lang="vi-VN"/>
              <a:t>Cấu hình: NODE_FEAT_MODE = "concat" (56-dim = onehot 26 + node2vec 30)</a:t>
            </a:r>
          </a:p>
          <a:p>
            <a:r>
              <a:rPr lang="vi-VN"/>
              <a:t>Output cho mỗi nhánh (bp/mf/cc):</a:t>
            </a:r>
          </a:p>
          <a:p>
            <a:endParaRPr lang="en-US"/>
          </a:p>
        </p:txBody>
      </p:sp>
      <p:graphicFrame>
        <p:nvGraphicFramePr>
          <p:cNvPr id="4" name="Table 3">
            <a:extLst>
              <a:ext uri="{FF2B5EF4-FFF2-40B4-BE49-F238E27FC236}">
                <a16:creationId xmlns:a16="http://schemas.microsoft.com/office/drawing/2014/main" id="{4711EE16-6B10-7546-12D7-41A4CA90F973}"/>
              </a:ext>
            </a:extLst>
          </p:cNvPr>
          <p:cNvGraphicFramePr>
            <a:graphicFrameLocks noGrp="1"/>
          </p:cNvGraphicFramePr>
          <p:nvPr>
            <p:extLst>
              <p:ext uri="{D42A27DB-BD31-4B8C-83A1-F6EECF244321}">
                <p14:modId xmlns:p14="http://schemas.microsoft.com/office/powerpoint/2010/main" val="3445410121"/>
              </p:ext>
            </p:extLst>
          </p:nvPr>
        </p:nvGraphicFramePr>
        <p:xfrm>
          <a:off x="628650" y="3285014"/>
          <a:ext cx="7886700" cy="2926080"/>
        </p:xfrm>
        <a:graphic>
          <a:graphicData uri="http://schemas.openxmlformats.org/drawingml/2006/table">
            <a:tbl>
              <a:tblPr/>
              <a:tblGrid>
                <a:gridCol w="3943350">
                  <a:extLst>
                    <a:ext uri="{9D8B030D-6E8A-4147-A177-3AD203B41FA5}">
                      <a16:colId xmlns:a16="http://schemas.microsoft.com/office/drawing/2014/main" val="2463634126"/>
                    </a:ext>
                  </a:extLst>
                </a:gridCol>
                <a:gridCol w="3943350">
                  <a:extLst>
                    <a:ext uri="{9D8B030D-6E8A-4147-A177-3AD203B41FA5}">
                      <a16:colId xmlns:a16="http://schemas.microsoft.com/office/drawing/2014/main" val="1537718651"/>
                    </a:ext>
                  </a:extLst>
                </a:gridCol>
              </a:tblGrid>
              <a:tr h="0">
                <a:tc>
                  <a:txBody>
                    <a:bodyPr/>
                    <a:lstStyle/>
                    <a:p>
                      <a:pPr algn="ctr">
                        <a:buNone/>
                      </a:pPr>
                      <a:r>
                        <a:rPr lang="en-US">
                          <a:latin typeface="Arial" panose="020B0604020202020204" pitchFamily="34" charset="0"/>
                          <a:cs typeface="Arial" panose="020B0604020202020204" pitchFamily="34" charset="0"/>
                        </a:rPr>
                        <a:t>File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atin typeface="Arial" panose="020B0604020202020204" pitchFamily="34" charset="0"/>
                          <a:cs typeface="Arial" panose="020B0604020202020204" pitchFamily="34" charset="0"/>
                        </a:rPr>
                        <a:t>Nội dung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9204057"/>
                  </a:ext>
                </a:extLst>
              </a:tr>
              <a:tr h="0">
                <a:tc>
                  <a:txBody>
                    <a:bodyPr/>
                    <a:lstStyle/>
                    <a:p>
                      <a:pPr algn="ctr">
                        <a:buNone/>
                      </a:pPr>
                      <a:r>
                        <a:rPr lang="en-US">
                          <a:latin typeface="Arial" panose="020B0604020202020204" pitchFamily="34" charset="0"/>
                          <a:cs typeface="Arial" panose="020B0604020202020204" pitchFamily="34" charset="0"/>
                        </a:rPr>
                        <a:t>emb_graph_{ns}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atin typeface="Arial" panose="020B0604020202020204" pitchFamily="34" charset="0"/>
                          <a:cs typeface="Arial" panose="020B0604020202020204" pitchFamily="34" charset="0"/>
                        </a:rPr>
                        <a:t>{ID → DGL graph} của contact map + node feature 56-dim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456351"/>
                  </a:ext>
                </a:extLst>
              </a:tr>
              <a:tr h="0">
                <a:tc>
                  <a:txBody>
                    <a:bodyPr/>
                    <a:lstStyle/>
                    <a:p>
                      <a:pPr algn="ctr">
                        <a:buNone/>
                      </a:pPr>
                      <a:r>
                        <a:rPr lang="en-US">
                          <a:latin typeface="Arial" panose="020B0604020202020204" pitchFamily="34" charset="0"/>
                          <a:cs typeface="Arial" panose="020B0604020202020204" pitchFamily="34" charset="0"/>
                        </a:rPr>
                        <a:t>emb_seq_feature_{ns}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atin typeface="Arial" panose="020B0604020202020204" pitchFamily="34" charset="0"/>
                          <a:cs typeface="Arial" panose="020B0604020202020204" pitchFamily="34" charset="0"/>
                        </a:rPr>
                        <a:t>{ID → Tensor(1024,)} sequence embedding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741340"/>
                  </a:ext>
                </a:extLst>
              </a:tr>
              <a:tr h="0">
                <a:tc>
                  <a:txBody>
                    <a:bodyPr/>
                    <a:lstStyle/>
                    <a:p>
                      <a:pPr algn="ctr">
                        <a:buNone/>
                      </a:pPr>
                      <a:r>
                        <a:rPr lang="en-US">
                          <a:latin typeface="Arial" panose="020B0604020202020204" pitchFamily="34" charset="0"/>
                          <a:cs typeface="Arial" panose="020B0604020202020204" pitchFamily="34" charset="0"/>
                        </a:rPr>
                        <a:t>emb_label_{ns}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atin typeface="Arial" panose="020B0604020202020204" pitchFamily="34" charset="0"/>
                          <a:cs typeface="Arial" panose="020B0604020202020204" pitchFamily="34" charset="0"/>
                        </a:rPr>
                        <a:t>{ID → Tensor(num_labels,)} multi-hot GO label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3123575"/>
                  </a:ext>
                </a:extLst>
              </a:tr>
              <a:tr h="0">
                <a:tc>
                  <a:txBody>
                    <a:bodyPr/>
                    <a:lstStyle/>
                    <a:p>
                      <a:pPr algn="ctr">
                        <a:buNone/>
                      </a:pPr>
                      <a:r>
                        <a:rPr lang="da-DK">
                          <a:latin typeface="Arial" panose="020B0604020202020204" pitchFamily="34" charset="0"/>
                          <a:cs typeface="Arial" panose="020B0604020202020204" pitchFamily="34" charset="0"/>
                        </a:rPr>
                        <a:t>emb_ppi_node_id_{ns}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atin typeface="Arial" panose="020B0604020202020204" pitchFamily="34" charset="0"/>
                          <a:cs typeface="Arial" panose="020B0604020202020204" pitchFamily="34" charset="0"/>
                        </a:rPr>
                        <a:t>{ID → int} vị trí trong PPI global graph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476025"/>
                  </a:ext>
                </a:extLst>
              </a:tr>
            </a:tbl>
          </a:graphicData>
        </a:graphic>
      </p:graphicFrame>
    </p:spTree>
    <p:extLst>
      <p:ext uri="{BB962C8B-B14F-4D97-AF65-F5344CB8AC3E}">
        <p14:creationId xmlns:p14="http://schemas.microsoft.com/office/powerpoint/2010/main" val="2782651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B3045-63EE-24AC-0122-C861DCA39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4D5A4B-CB85-7641-8BFB-113FFF8CF85A}"/>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4.Kiến trúc hệ thống</a:t>
            </a:r>
          </a:p>
        </p:txBody>
      </p:sp>
      <p:sp>
        <p:nvSpPr>
          <p:cNvPr id="5" name="Slide Number Placeholder 4">
            <a:extLst>
              <a:ext uri="{FF2B5EF4-FFF2-40B4-BE49-F238E27FC236}">
                <a16:creationId xmlns:a16="http://schemas.microsoft.com/office/drawing/2014/main" id="{7AF03746-AAA1-7B6F-EF40-7297268784EB}"/>
              </a:ext>
            </a:extLst>
          </p:cNvPr>
          <p:cNvSpPr>
            <a:spLocks noGrp="1"/>
          </p:cNvSpPr>
          <p:nvPr>
            <p:ph type="sldNum" sz="quarter" idx="12"/>
          </p:nvPr>
        </p:nvSpPr>
        <p:spPr/>
        <p:txBody>
          <a:bodyPr/>
          <a:lstStyle/>
          <a:p>
            <a:fld id="{9EA0BE3B-158A-4EDF-80DC-E394A0D1600F}" type="slidenum">
              <a:rPr lang="en-US" smtClean="0"/>
              <a:pPr/>
              <a:t>8</a:t>
            </a:fld>
            <a:endParaRPr lang="en-US" dirty="0"/>
          </a:p>
        </p:txBody>
      </p:sp>
      <p:pic>
        <p:nvPicPr>
          <p:cNvPr id="3" name="Picture 2">
            <a:extLst>
              <a:ext uri="{FF2B5EF4-FFF2-40B4-BE49-F238E27FC236}">
                <a16:creationId xmlns:a16="http://schemas.microsoft.com/office/drawing/2014/main" id="{E8240161-B78E-25D7-BFDE-C107C34B7D1B}"/>
              </a:ext>
            </a:extLst>
          </p:cNvPr>
          <p:cNvPicPr>
            <a:picLocks noChangeAspect="1"/>
          </p:cNvPicPr>
          <p:nvPr/>
        </p:nvPicPr>
        <p:blipFill>
          <a:blip r:embed="rId2"/>
          <a:stretch>
            <a:fillRect/>
          </a:stretch>
        </p:blipFill>
        <p:spPr>
          <a:xfrm>
            <a:off x="3229419" y="2444713"/>
            <a:ext cx="5481199" cy="3818927"/>
          </a:xfrm>
          <a:prstGeom prst="rect">
            <a:avLst/>
          </a:prstGeom>
        </p:spPr>
      </p:pic>
      <p:pic>
        <p:nvPicPr>
          <p:cNvPr id="4" name="Picture 3">
            <a:extLst>
              <a:ext uri="{FF2B5EF4-FFF2-40B4-BE49-F238E27FC236}">
                <a16:creationId xmlns:a16="http://schemas.microsoft.com/office/drawing/2014/main" id="{E38C43E7-0B48-1CDA-274B-4E42427FC65F}"/>
              </a:ext>
            </a:extLst>
          </p:cNvPr>
          <p:cNvPicPr>
            <a:picLocks noChangeAspect="1"/>
          </p:cNvPicPr>
          <p:nvPr/>
        </p:nvPicPr>
        <p:blipFill>
          <a:blip r:embed="rId3"/>
          <a:stretch>
            <a:fillRect/>
          </a:stretch>
        </p:blipFill>
        <p:spPr>
          <a:xfrm>
            <a:off x="247047" y="1180787"/>
            <a:ext cx="2917708" cy="1516694"/>
          </a:xfrm>
          <a:prstGeom prst="rect">
            <a:avLst/>
          </a:prstGeom>
        </p:spPr>
      </p:pic>
    </p:spTree>
    <p:extLst>
      <p:ext uri="{BB962C8B-B14F-4D97-AF65-F5344CB8AC3E}">
        <p14:creationId xmlns:p14="http://schemas.microsoft.com/office/powerpoint/2010/main" val="2639713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F8527-DEE2-FCF6-4497-CF6E7D04AC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B32896-D316-EDFF-6C29-8925F8C386F0}"/>
              </a:ext>
            </a:extLst>
          </p:cNvPr>
          <p:cNvSpPr>
            <a:spLocks noGrp="1"/>
          </p:cNvSpPr>
          <p:nvPr>
            <p:ph type="title"/>
          </p:nvPr>
        </p:nvSpPr>
        <p:spPr/>
        <p:txBody>
          <a:bodyPr/>
          <a:lstStyle/>
          <a:p>
            <a:r>
              <a:rPr lang="en-US"/>
              <a:t>5. Các tham số huấn luyện</a:t>
            </a:r>
          </a:p>
        </p:txBody>
      </p:sp>
      <p:sp>
        <p:nvSpPr>
          <p:cNvPr id="5" name="Slide Number Placeholder 4">
            <a:extLst>
              <a:ext uri="{FF2B5EF4-FFF2-40B4-BE49-F238E27FC236}">
                <a16:creationId xmlns:a16="http://schemas.microsoft.com/office/drawing/2014/main" id="{390781E5-B938-ED71-9869-1068F40265C9}"/>
              </a:ext>
            </a:extLst>
          </p:cNvPr>
          <p:cNvSpPr>
            <a:spLocks noGrp="1"/>
          </p:cNvSpPr>
          <p:nvPr>
            <p:ph type="sldNum" sz="quarter" idx="12"/>
          </p:nvPr>
        </p:nvSpPr>
        <p:spPr/>
        <p:txBody>
          <a:bodyPr/>
          <a:lstStyle/>
          <a:p>
            <a:fld id="{9EA0BE3B-158A-4EDF-80DC-E394A0D1600F}" type="slidenum">
              <a:rPr lang="en-US" smtClean="0"/>
              <a:pPr/>
              <a:t>9</a:t>
            </a:fld>
            <a:endParaRPr lang="en-US" dirty="0"/>
          </a:p>
        </p:txBody>
      </p:sp>
      <p:graphicFrame>
        <p:nvGraphicFramePr>
          <p:cNvPr id="3" name="Table 2">
            <a:extLst>
              <a:ext uri="{FF2B5EF4-FFF2-40B4-BE49-F238E27FC236}">
                <a16:creationId xmlns:a16="http://schemas.microsoft.com/office/drawing/2014/main" id="{A734D610-2A9F-9323-B163-0051FB3BE4BC}"/>
              </a:ext>
            </a:extLst>
          </p:cNvPr>
          <p:cNvGraphicFramePr>
            <a:graphicFrameLocks noGrp="1"/>
          </p:cNvGraphicFramePr>
          <p:nvPr>
            <p:extLst>
              <p:ext uri="{D42A27DB-BD31-4B8C-83A1-F6EECF244321}">
                <p14:modId xmlns:p14="http://schemas.microsoft.com/office/powerpoint/2010/main" val="1494603128"/>
              </p:ext>
            </p:extLst>
          </p:nvPr>
        </p:nvGraphicFramePr>
        <p:xfrm>
          <a:off x="584781" y="1669069"/>
          <a:ext cx="7886700" cy="2377440"/>
        </p:xfrm>
        <a:graphic>
          <a:graphicData uri="http://schemas.openxmlformats.org/drawingml/2006/table">
            <a:tbl>
              <a:tblPr/>
              <a:tblGrid>
                <a:gridCol w="1971675">
                  <a:extLst>
                    <a:ext uri="{9D8B030D-6E8A-4147-A177-3AD203B41FA5}">
                      <a16:colId xmlns:a16="http://schemas.microsoft.com/office/drawing/2014/main" val="2533900132"/>
                    </a:ext>
                  </a:extLst>
                </a:gridCol>
                <a:gridCol w="1971675">
                  <a:extLst>
                    <a:ext uri="{9D8B030D-6E8A-4147-A177-3AD203B41FA5}">
                      <a16:colId xmlns:a16="http://schemas.microsoft.com/office/drawing/2014/main" val="2639201752"/>
                    </a:ext>
                  </a:extLst>
                </a:gridCol>
                <a:gridCol w="1971675">
                  <a:extLst>
                    <a:ext uri="{9D8B030D-6E8A-4147-A177-3AD203B41FA5}">
                      <a16:colId xmlns:a16="http://schemas.microsoft.com/office/drawing/2014/main" val="2163142197"/>
                    </a:ext>
                  </a:extLst>
                </a:gridCol>
                <a:gridCol w="1971675">
                  <a:extLst>
                    <a:ext uri="{9D8B030D-6E8A-4147-A177-3AD203B41FA5}">
                      <a16:colId xmlns:a16="http://schemas.microsoft.com/office/drawing/2014/main" val="2611645146"/>
                    </a:ext>
                  </a:extLst>
                </a:gridCol>
              </a:tblGrid>
              <a:tr h="0">
                <a:tc>
                  <a:txBody>
                    <a:bodyPr/>
                    <a:lstStyle/>
                    <a:p>
                      <a:pPr algn="ctr">
                        <a:buNone/>
                      </a:pPr>
                      <a:r>
                        <a:rPr lang="en-US" sz="2000">
                          <a:latin typeface="Arial" panose="020B0604020202020204" pitchFamily="34" charset="0"/>
                          <a:cs typeface="Arial" panose="020B0604020202020204" pitchFamily="34" charset="0"/>
                        </a:rPr>
                        <a:t>Tham số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MFO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CCO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BPO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2995927"/>
                  </a:ext>
                </a:extLst>
              </a:tr>
              <a:tr h="0">
                <a:tc>
                  <a:txBody>
                    <a:bodyPr/>
                    <a:lstStyle/>
                    <a:p>
                      <a:pPr algn="ctr">
                        <a:buNone/>
                      </a:pPr>
                      <a:r>
                        <a:rPr lang="en-US" sz="2000">
                          <a:latin typeface="Arial" panose="020B0604020202020204" pitchFamily="34" charset="0"/>
                          <a:cs typeface="Arial" panose="020B0604020202020204" pitchFamily="34" charset="0"/>
                        </a:rPr>
                        <a:t>Số labels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308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310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713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658477"/>
                  </a:ext>
                </a:extLst>
              </a:tr>
              <a:tr h="0">
                <a:tc>
                  <a:txBody>
                    <a:bodyPr/>
                    <a:lstStyle/>
                    <a:p>
                      <a:pPr algn="ctr">
                        <a:buNone/>
                      </a:pPr>
                      <a:r>
                        <a:rPr lang="en-US" sz="2000">
                          <a:latin typeface="Arial" panose="020B0604020202020204" pitchFamily="34" charset="0"/>
                          <a:cs typeface="Arial" panose="020B0604020202020204" pitchFamily="34" charset="0"/>
                        </a:rPr>
                        <a:t>Batch 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4056958"/>
                  </a:ext>
                </a:extLst>
              </a:tr>
              <a:tr h="0">
                <a:tc>
                  <a:txBody>
                    <a:bodyPr/>
                    <a:lstStyle/>
                    <a:p>
                      <a:pPr algn="ctr">
                        <a:buNone/>
                      </a:pPr>
                      <a:r>
                        <a:rPr lang="en-US" sz="2000">
                          <a:latin typeface="Arial" panose="020B0604020202020204" pitchFamily="34" charset="0"/>
                          <a:cs typeface="Arial" panose="020B0604020202020204" pitchFamily="34" charset="0"/>
                        </a:rPr>
                        <a:t>Learning 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1e-4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1e-4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1e-4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1545837"/>
                  </a:ext>
                </a:extLst>
              </a:tr>
              <a:tr h="0">
                <a:tc>
                  <a:txBody>
                    <a:bodyPr/>
                    <a:lstStyle/>
                    <a:p>
                      <a:pPr algn="ctr">
                        <a:buNone/>
                      </a:pPr>
                      <a:r>
                        <a:rPr lang="en-US" sz="2000">
                          <a:latin typeface="Arial" panose="020B0604020202020204" pitchFamily="34" charset="0"/>
                          <a:cs typeface="Arial" panose="020B0604020202020204" pitchFamily="34" charset="0"/>
                        </a:rPr>
                        <a:t>Dropout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8543126"/>
                  </a:ext>
                </a:extLst>
              </a:tr>
              <a:tr h="0">
                <a:tc>
                  <a:txBody>
                    <a:bodyPr/>
                    <a:lstStyle/>
                    <a:p>
                      <a:pPr algn="ctr">
                        <a:buNone/>
                      </a:pPr>
                      <a:r>
                        <a:rPr lang="en-US" sz="2000">
                          <a:latin typeface="Arial" panose="020B0604020202020204" pitchFamily="34" charset="0"/>
                          <a:cs typeface="Arial" panose="020B0604020202020204" pitchFamily="34" charset="0"/>
                        </a:rPr>
                        <a:t>Eval threshold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0.71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0.50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a:latin typeface="Arial" panose="020B0604020202020204" pitchFamily="34" charset="0"/>
                          <a:cs typeface="Arial" panose="020B0604020202020204" pitchFamily="34" charset="0"/>
                        </a:rPr>
                        <a:t>0.40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9015431"/>
                  </a:ext>
                </a:extLst>
              </a:tr>
            </a:tbl>
          </a:graphicData>
        </a:graphic>
      </p:graphicFrame>
      <p:sp>
        <p:nvSpPr>
          <p:cNvPr id="4" name="Rectangle 1">
            <a:extLst>
              <a:ext uri="{FF2B5EF4-FFF2-40B4-BE49-F238E27FC236}">
                <a16:creationId xmlns:a16="http://schemas.microsoft.com/office/drawing/2014/main" id="{A46700C9-B9A5-03D7-6491-829F0A5301B5}"/>
              </a:ext>
            </a:extLst>
          </p:cNvPr>
          <p:cNvSpPr>
            <a:spLocks noChangeArrowheads="1"/>
          </p:cNvSpPr>
          <p:nvPr/>
        </p:nvSpPr>
        <p:spPr bwMode="auto">
          <a:xfrm>
            <a:off x="400050" y="1550879"/>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71407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924A9-466C-008A-7D4C-EFB71A0C60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C72A92-9B7D-72F6-1F6F-2568533FCACB}"/>
              </a:ext>
            </a:extLst>
          </p:cNvPr>
          <p:cNvSpPr>
            <a:spLocks noGrp="1"/>
          </p:cNvSpPr>
          <p:nvPr>
            <p:ph type="title"/>
          </p:nvPr>
        </p:nvSpPr>
        <p:spPr/>
        <p:txBody>
          <a:bodyPr/>
          <a:lstStyle/>
          <a:p>
            <a:r>
              <a:rPr lang="en-US"/>
              <a:t>5. Các tham số huấn luyện</a:t>
            </a:r>
          </a:p>
        </p:txBody>
      </p:sp>
      <p:sp>
        <p:nvSpPr>
          <p:cNvPr id="5" name="Slide Number Placeholder 4">
            <a:extLst>
              <a:ext uri="{FF2B5EF4-FFF2-40B4-BE49-F238E27FC236}">
                <a16:creationId xmlns:a16="http://schemas.microsoft.com/office/drawing/2014/main" id="{FFF4C837-8873-9CD9-2E5A-84ABF9A868B6}"/>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4" name="Rectangle 1">
            <a:extLst>
              <a:ext uri="{FF2B5EF4-FFF2-40B4-BE49-F238E27FC236}">
                <a16:creationId xmlns:a16="http://schemas.microsoft.com/office/drawing/2014/main" id="{4AFC4A72-D2D9-A334-B0D5-A96E49B80E95}"/>
              </a:ext>
            </a:extLst>
          </p:cNvPr>
          <p:cNvSpPr>
            <a:spLocks noChangeArrowheads="1"/>
          </p:cNvSpPr>
          <p:nvPr/>
        </p:nvSpPr>
        <p:spPr bwMode="auto">
          <a:xfrm>
            <a:off x="400050" y="1550879"/>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6" name="Table 5">
            <a:extLst>
              <a:ext uri="{FF2B5EF4-FFF2-40B4-BE49-F238E27FC236}">
                <a16:creationId xmlns:a16="http://schemas.microsoft.com/office/drawing/2014/main" id="{7D28A013-CAAC-34EC-824B-D861550DEB8E}"/>
              </a:ext>
            </a:extLst>
          </p:cNvPr>
          <p:cNvGraphicFramePr>
            <a:graphicFrameLocks noGrp="1"/>
          </p:cNvGraphicFramePr>
          <p:nvPr>
            <p:extLst>
              <p:ext uri="{D42A27DB-BD31-4B8C-83A1-F6EECF244321}">
                <p14:modId xmlns:p14="http://schemas.microsoft.com/office/powerpoint/2010/main" val="3018286754"/>
              </p:ext>
            </p:extLst>
          </p:nvPr>
        </p:nvGraphicFramePr>
        <p:xfrm>
          <a:off x="400050" y="1212374"/>
          <a:ext cx="7886700" cy="4267200"/>
        </p:xfrm>
        <a:graphic>
          <a:graphicData uri="http://schemas.openxmlformats.org/drawingml/2006/table">
            <a:tbl>
              <a:tblPr/>
              <a:tblGrid>
                <a:gridCol w="3943350">
                  <a:extLst>
                    <a:ext uri="{9D8B030D-6E8A-4147-A177-3AD203B41FA5}">
                      <a16:colId xmlns:a16="http://schemas.microsoft.com/office/drawing/2014/main" val="609727074"/>
                    </a:ext>
                  </a:extLst>
                </a:gridCol>
                <a:gridCol w="3943350">
                  <a:extLst>
                    <a:ext uri="{9D8B030D-6E8A-4147-A177-3AD203B41FA5}">
                      <a16:colId xmlns:a16="http://schemas.microsoft.com/office/drawing/2014/main" val="1215506713"/>
                    </a:ext>
                  </a:extLst>
                </a:gridCol>
              </a:tblGrid>
              <a:tr h="0">
                <a:tc>
                  <a:txBody>
                    <a:bodyPr/>
                    <a:lstStyle/>
                    <a:p>
                      <a:pPr>
                        <a:buNone/>
                      </a:pPr>
                      <a:r>
                        <a:rPr lang="en-US" sz="2000">
                          <a:latin typeface="Arial" panose="020B0604020202020204" pitchFamily="34" charset="0"/>
                          <a:cs typeface="Arial" panose="020B0604020202020204" pitchFamily="34" charset="0"/>
                        </a:rPr>
                        <a:t>Thành phần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Arial" panose="020B0604020202020204" pitchFamily="34" charset="0"/>
                          <a:cs typeface="Arial" panose="020B0604020202020204" pitchFamily="34" charset="0"/>
                        </a:rPr>
                        <a:t>Giá trị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6162845"/>
                  </a:ext>
                </a:extLst>
              </a:tr>
              <a:tr h="0">
                <a:tc>
                  <a:txBody>
                    <a:bodyPr/>
                    <a:lstStyle/>
                    <a:p>
                      <a:pPr>
                        <a:buNone/>
                      </a:pPr>
                      <a:r>
                        <a:rPr lang="en-US" sz="2000">
                          <a:latin typeface="Arial" panose="020B0604020202020204" pitchFamily="34" charset="0"/>
                          <a:cs typeface="Arial" panose="020B0604020202020204" pitchFamily="34" charset="0"/>
                        </a:rPr>
                        <a:t>in_dim (node 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nl-NL" sz="2000">
                          <a:latin typeface="Arial" panose="020B0604020202020204" pitchFamily="34" charset="0"/>
                          <a:cs typeface="Arial" panose="020B0604020202020204" pitchFamily="34" charset="0"/>
                        </a:rPr>
                        <a:t>56 = onehot(26) + node2vec(30)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38064038"/>
                  </a:ext>
                </a:extLst>
              </a:tr>
              <a:tr h="0">
                <a:tc>
                  <a:txBody>
                    <a:bodyPr/>
                    <a:lstStyle/>
                    <a:p>
                      <a:pPr>
                        <a:buNone/>
                      </a:pPr>
                      <a:r>
                        <a:rPr lang="en-US" sz="2000">
                          <a:latin typeface="Arial" panose="020B0604020202020204" pitchFamily="34" charset="0"/>
                          <a:cs typeface="Arial" panose="020B0604020202020204" pitchFamily="34" charset="0"/>
                        </a:rPr>
                        <a:t>hid_dim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Arial" panose="020B0604020202020204" pitchFamily="34" charset="0"/>
                          <a:cs typeface="Arial" panose="020B0604020202020204" pitchFamily="34" charset="0"/>
                        </a:rPr>
                        <a:t>512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4733728"/>
                  </a:ext>
                </a:extLst>
              </a:tr>
              <a:tr h="0">
                <a:tc>
                  <a:txBody>
                    <a:bodyPr/>
                    <a:lstStyle/>
                    <a:p>
                      <a:pPr>
                        <a:buNone/>
                      </a:pPr>
                      <a:r>
                        <a:rPr lang="en-US" sz="2000">
                          <a:latin typeface="Arial" panose="020B0604020202020204" pitchFamily="34" charset="0"/>
                          <a:cs typeface="Arial" panose="020B0604020202020204" pitchFamily="34" charset="0"/>
                        </a:rPr>
                        <a:t>num_convs trong ConvPoolBlock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Arial" panose="020B0604020202020204" pitchFamily="34" charset="0"/>
                          <a:cs typeface="Arial" panose="020B060402020202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3063243"/>
                  </a:ext>
                </a:extLst>
              </a:tr>
              <a:tr h="0">
                <a:tc>
                  <a:txBody>
                    <a:bodyPr/>
                    <a:lstStyle/>
                    <a:p>
                      <a:pPr>
                        <a:buNone/>
                      </a:pPr>
                      <a:r>
                        <a:rPr lang="en-US" sz="2000">
                          <a:latin typeface="Arial" panose="020B0604020202020204" pitchFamily="34" charset="0"/>
                          <a:cs typeface="Arial" panose="020B0604020202020204" pitchFamily="34" charset="0"/>
                        </a:rPr>
                        <a:t>pool_ratio (SAGPool)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Arial" panose="020B0604020202020204" pitchFamily="34" charset="0"/>
                          <a:cs typeface="Arial" panose="020B0604020202020204" pitchFamily="34" charset="0"/>
                        </a:rPr>
                        <a:t>0.75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8636030"/>
                  </a:ext>
                </a:extLst>
              </a:tr>
              <a:tr h="0">
                <a:tc>
                  <a:txBody>
                    <a:bodyPr/>
                    <a:lstStyle/>
                    <a:p>
                      <a:pPr>
                        <a:buNone/>
                      </a:pPr>
                      <a:r>
                        <a:rPr lang="en-US" sz="2000">
                          <a:latin typeface="Arial" panose="020B0604020202020204" pitchFamily="34" charset="0"/>
                          <a:cs typeface="Arial" panose="020B0604020202020204" pitchFamily="34" charset="0"/>
                        </a:rPr>
                        <a:t>ppi_in_dim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Arial" panose="020B0604020202020204" pitchFamily="34" charset="0"/>
                          <a:cs typeface="Arial" panose="020B0604020202020204" pitchFamily="34" charset="0"/>
                        </a:rPr>
                        <a:t>1024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8784258"/>
                  </a:ext>
                </a:extLst>
              </a:tr>
              <a:tr h="0">
                <a:tc>
                  <a:txBody>
                    <a:bodyPr/>
                    <a:lstStyle/>
                    <a:p>
                      <a:pPr>
                        <a:buNone/>
                      </a:pPr>
                      <a:r>
                        <a:rPr lang="en-US" sz="2000">
                          <a:latin typeface="Arial" panose="020B0604020202020204" pitchFamily="34" charset="0"/>
                          <a:cs typeface="Arial" panose="020B0604020202020204" pitchFamily="34" charset="0"/>
                        </a:rPr>
                        <a:t>ppi_hid_dim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Arial" panose="020B0604020202020204" pitchFamily="34" charset="0"/>
                          <a:cs typeface="Arial" panose="020B0604020202020204" pitchFamily="34" charset="0"/>
                        </a:rPr>
                        <a:t>512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5685004"/>
                  </a:ext>
                </a:extLst>
              </a:tr>
              <a:tr h="0">
                <a:tc>
                  <a:txBody>
                    <a:bodyPr/>
                    <a:lstStyle/>
                    <a:p>
                      <a:pPr>
                        <a:buNone/>
                      </a:pPr>
                      <a:r>
                        <a:rPr lang="en-US" sz="2000">
                          <a:latin typeface="Arial" panose="020B0604020202020204" pitchFamily="34" charset="0"/>
                          <a:cs typeface="Arial" panose="020B0604020202020204" pitchFamily="34" charset="0"/>
                        </a:rPr>
                        <a:t>ppi_out_dim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Arial" panose="020B0604020202020204" pitchFamily="34" charset="0"/>
                          <a:cs typeface="Arial" panose="020B0604020202020204" pitchFamily="34" charset="0"/>
                        </a:rPr>
                        <a:t>256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4362979"/>
                  </a:ext>
                </a:extLst>
              </a:tr>
              <a:tr h="0">
                <a:tc>
                  <a:txBody>
                    <a:bodyPr/>
                    <a:lstStyle/>
                    <a:p>
                      <a:pPr>
                        <a:buNone/>
                      </a:pPr>
                      <a:r>
                        <a:rPr lang="en-US" sz="2000">
                          <a:latin typeface="Arial" panose="020B0604020202020204" pitchFamily="34" charset="0"/>
                          <a:cs typeface="Arial" panose="020B0604020202020204" pitchFamily="34" charset="0"/>
                        </a:rPr>
                        <a:t>Optimizer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Arial" panose="020B0604020202020204" pitchFamily="34" charset="0"/>
                          <a:cs typeface="Arial" panose="020B0604020202020204" pitchFamily="34" charset="0"/>
                        </a:rPr>
                        <a:t>Adam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6420491"/>
                  </a:ext>
                </a:extLst>
              </a:tr>
              <a:tr h="0">
                <a:tc>
                  <a:txBody>
                    <a:bodyPr/>
                    <a:lstStyle/>
                    <a:p>
                      <a:pPr>
                        <a:buNone/>
                      </a:pPr>
                      <a:r>
                        <a:rPr lang="en-US" sz="2000">
                          <a:latin typeface="Arial" panose="020B0604020202020204" pitchFamily="34" charset="0"/>
                          <a:cs typeface="Arial" panose="020B0604020202020204" pitchFamily="34" charset="0"/>
                        </a:rPr>
                        <a:t>Loss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Arial" panose="020B0604020202020204" pitchFamily="34" charset="0"/>
                          <a:cs typeface="Arial" panose="020B0604020202020204" pitchFamily="34" charset="0"/>
                        </a:rPr>
                        <a:t>Binary Cross-Entropy (multi-label)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1777196"/>
                  </a:ext>
                </a:extLst>
              </a:tr>
            </a:tbl>
          </a:graphicData>
        </a:graphic>
      </p:graphicFrame>
    </p:spTree>
    <p:extLst>
      <p:ext uri="{BB962C8B-B14F-4D97-AF65-F5344CB8AC3E}">
        <p14:creationId xmlns:p14="http://schemas.microsoft.com/office/powerpoint/2010/main" val="3910204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51CCB-759F-D513-CCD3-D48F3864F9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E7636-2D4F-01F1-157D-9F5CCA60194F}"/>
              </a:ext>
            </a:extLst>
          </p:cNvPr>
          <p:cNvSpPr>
            <a:spLocks noGrp="1"/>
          </p:cNvSpPr>
          <p:nvPr>
            <p:ph type="title"/>
          </p:nvPr>
        </p:nvSpPr>
        <p:spPr/>
        <p:txBody>
          <a:bodyPr/>
          <a:lstStyle/>
          <a:p>
            <a:r>
              <a:rPr lang="en-US"/>
              <a:t>6. Các chỉ số đánh giá</a:t>
            </a:r>
          </a:p>
        </p:txBody>
      </p:sp>
      <p:sp>
        <p:nvSpPr>
          <p:cNvPr id="5" name="Slide Number Placeholder 4">
            <a:extLst>
              <a:ext uri="{FF2B5EF4-FFF2-40B4-BE49-F238E27FC236}">
                <a16:creationId xmlns:a16="http://schemas.microsoft.com/office/drawing/2014/main" id="{EBBAF38B-E743-79FD-8D3B-80209C08890F}"/>
              </a:ext>
            </a:extLst>
          </p:cNvPr>
          <p:cNvSpPr>
            <a:spLocks noGrp="1"/>
          </p:cNvSpPr>
          <p:nvPr>
            <p:ph type="sldNum" sz="quarter" idx="12"/>
          </p:nvPr>
        </p:nvSpPr>
        <p:spPr/>
        <p:txBody>
          <a:bodyPr/>
          <a:lstStyle/>
          <a:p>
            <a:fld id="{9EA0BE3B-158A-4EDF-80DC-E394A0D1600F}" type="slidenum">
              <a:rPr lang="en-US" smtClean="0"/>
              <a:pPr/>
              <a:t>11</a:t>
            </a:fld>
            <a:endParaRPr lang="en-US" dirty="0"/>
          </a:p>
        </p:txBody>
      </p:sp>
      <p:pic>
        <p:nvPicPr>
          <p:cNvPr id="3" name="Picture 2">
            <a:extLst>
              <a:ext uri="{FF2B5EF4-FFF2-40B4-BE49-F238E27FC236}">
                <a16:creationId xmlns:a16="http://schemas.microsoft.com/office/drawing/2014/main" id="{C8F2E0F0-CA22-2BCA-C734-039368C0E82B}"/>
              </a:ext>
            </a:extLst>
          </p:cNvPr>
          <p:cNvPicPr>
            <a:picLocks noChangeAspect="1"/>
          </p:cNvPicPr>
          <p:nvPr/>
        </p:nvPicPr>
        <p:blipFill>
          <a:blip r:embed="rId2"/>
          <a:stretch>
            <a:fillRect/>
          </a:stretch>
        </p:blipFill>
        <p:spPr>
          <a:xfrm>
            <a:off x="447099" y="1237955"/>
            <a:ext cx="8249801" cy="2114845"/>
          </a:xfrm>
          <a:prstGeom prst="rect">
            <a:avLst/>
          </a:prstGeom>
        </p:spPr>
      </p:pic>
      <p:sp>
        <p:nvSpPr>
          <p:cNvPr id="4" name="TextBox 3">
            <a:extLst>
              <a:ext uri="{FF2B5EF4-FFF2-40B4-BE49-F238E27FC236}">
                <a16:creationId xmlns:a16="http://schemas.microsoft.com/office/drawing/2014/main" id="{EF15178F-772C-9503-EB71-27AE6D6DE76F}"/>
              </a:ext>
            </a:extLst>
          </p:cNvPr>
          <p:cNvSpPr txBox="1"/>
          <p:nvPr/>
        </p:nvSpPr>
        <p:spPr>
          <a:xfrm>
            <a:off x="381000" y="3931920"/>
            <a:ext cx="5513048" cy="1477328"/>
          </a:xfrm>
          <a:prstGeom prst="rect">
            <a:avLst/>
          </a:prstGeom>
          <a:noFill/>
        </p:spPr>
        <p:txBody>
          <a:bodyPr wrap="none" rtlCol="0">
            <a:spAutoFit/>
          </a:bodyPr>
          <a:lstStyle/>
          <a:p>
            <a:pPr algn="just"/>
            <a:r>
              <a:rPr lang="vi-VN" b="1"/>
              <a:t>Ngưỡng đánh giá được chọn trên validation set:</a:t>
            </a:r>
            <a:endParaRPr lang="vi-VN"/>
          </a:p>
          <a:p>
            <a:pPr algn="just"/>
            <a:r>
              <a:rPr lang="vi-VN"/>
              <a:t>MFO: threshold = 0.71</a:t>
            </a:r>
          </a:p>
          <a:p>
            <a:pPr algn="just"/>
            <a:r>
              <a:rPr lang="vi-VN"/>
              <a:t>CCO: threshold = 0.50</a:t>
            </a:r>
          </a:p>
          <a:p>
            <a:pPr algn="just"/>
            <a:r>
              <a:rPr lang="vi-VN"/>
              <a:t>BPO: threshold = 0.40</a:t>
            </a:r>
          </a:p>
          <a:p>
            <a:pPr algn="just"/>
            <a:endParaRPr lang="en-US"/>
          </a:p>
        </p:txBody>
      </p:sp>
    </p:spTree>
    <p:extLst>
      <p:ext uri="{BB962C8B-B14F-4D97-AF65-F5344CB8AC3E}">
        <p14:creationId xmlns:p14="http://schemas.microsoft.com/office/powerpoint/2010/main" val="3235845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205</TotalTime>
  <Words>945</Words>
  <Application>Microsoft Office PowerPoint</Application>
  <PresentationFormat>On-screen Show (4:3)</PresentationFormat>
  <Paragraphs>127</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Lato</vt:lpstr>
      <vt:lpstr>Office Theme</vt:lpstr>
      <vt:lpstr>PowerPoint Presentation</vt:lpstr>
      <vt:lpstr>1. Mục tiêu chọn đề tài</vt:lpstr>
      <vt:lpstr>2. Dataset</vt:lpstr>
      <vt:lpstr>2. Dataset</vt:lpstr>
      <vt:lpstr>3. Các bước xử lý</vt:lpstr>
      <vt:lpstr>3. Các bước xử lý</vt:lpstr>
      <vt:lpstr>3. Các bước xử lý</vt:lpstr>
      <vt:lpstr>4.Kiến trúc hệ thống</vt:lpstr>
      <vt:lpstr>5. Các tham số huấn luyện</vt:lpstr>
      <vt:lpstr>5. Các tham số huấn luyện</vt:lpstr>
      <vt:lpstr>6. Các chỉ số đánh giá</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Nguyễn Ngọc Hà</cp:lastModifiedBy>
  <cp:revision>20</cp:revision>
  <dcterms:created xsi:type="dcterms:W3CDTF">2021-05-28T04:32:29Z</dcterms:created>
  <dcterms:modified xsi:type="dcterms:W3CDTF">2026-05-11T10:10:24Z</dcterms:modified>
</cp:coreProperties>
</file>